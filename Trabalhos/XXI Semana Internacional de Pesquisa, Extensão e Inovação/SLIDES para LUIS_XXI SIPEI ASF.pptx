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1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  <p:sldMasterId id="2147483658" r:id="rId10"/>
    <p:sldMasterId id="2147483659" r:id="rId11"/>
  </p:sldMasterIdLst>
  <p:sldIdLst>
    <p:sldId id="256" r:id="rId12"/>
    <p:sldId id="265" r:id="rId13"/>
    <p:sldId id="257" r:id="rId14"/>
    <p:sldId id="258" r:id="rId15"/>
    <p:sldId id="266" r:id="rId16"/>
    <p:sldId id="259" r:id="rId17"/>
    <p:sldId id="262" r:id="rId18"/>
    <p:sldId id="268" r:id="rId19"/>
    <p:sldId id="267" r:id="rId20"/>
    <p:sldId id="260" r:id="rId21"/>
    <p:sldId id="261" r:id="rId22"/>
    <p:sldId id="263" r:id="rId23"/>
  </p:sldIdLst>
  <p:sldSz cx="10439400" cy="7559675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32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5"/>
    <p:restoredTop sz="94660"/>
  </p:normalViewPr>
  <p:slideViewPr>
    <p:cSldViewPr snapToGrid="0">
      <p:cViewPr>
        <p:scale>
          <a:sx n="86" d="100"/>
          <a:sy n="86" d="100"/>
        </p:scale>
        <p:origin x="1912" y="824"/>
      </p:cViewPr>
      <p:guideLst>
        <p:guide orient="horz" pos="2381"/>
        <p:guide pos="3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56040" y="1094400"/>
            <a:ext cx="9727920" cy="301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22000" y="1769040"/>
            <a:ext cx="9395640" cy="438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D1195464-3B90-4AE2-87FB-0A08E993FF1C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56040" y="1094400"/>
            <a:ext cx="9727920" cy="301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9673200" y="6854040"/>
            <a:ext cx="626040" cy="578160"/>
          </a:xfrm>
          <a:prstGeom prst="rect">
            <a:avLst/>
          </a:prstGeom>
          <a:noFill/>
          <a:ln w="0">
            <a:noFill/>
          </a:ln>
        </p:spPr>
        <p:txBody>
          <a:bodyPr lIns="114480" tIns="114480" rIns="114480" bIns="11448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3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1269C4-4E7A-4312-A928-9D8E2ED80ACC}" type="slidenum">
              <a:rPr lang="pt-BR" sz="13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22000" y="1769040"/>
            <a:ext cx="9395640" cy="438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56040" y="1625760"/>
            <a:ext cx="9727920" cy="2885760"/>
          </a:xfrm>
          <a:prstGeom prst="rect">
            <a:avLst/>
          </a:prstGeom>
          <a:noFill/>
          <a:ln w="0">
            <a:noFill/>
          </a:ln>
        </p:spPr>
        <p:txBody>
          <a:bodyPr lIns="114480" tIns="114480" rIns="114480" bIns="114480" anchor="b">
            <a:norm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pt-BR" sz="15000" b="0" strike="noStrike" spc="-1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lang="pt-BR" sz="15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6040" y="4633200"/>
            <a:ext cx="9727920" cy="191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837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9673200" y="6854040"/>
            <a:ext cx="626040" cy="578160"/>
          </a:xfrm>
          <a:prstGeom prst="rect">
            <a:avLst/>
          </a:prstGeom>
          <a:noFill/>
          <a:ln w="0">
            <a:noFill/>
          </a:ln>
        </p:spPr>
        <p:txBody>
          <a:bodyPr lIns="114480" tIns="114480" rIns="114480" bIns="11448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3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226171-093D-462C-948D-63B84772399E}" type="slidenum">
              <a:rPr lang="pt-BR" sz="13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9673200" y="6854040"/>
            <a:ext cx="626040" cy="578160"/>
          </a:xfrm>
          <a:prstGeom prst="rect">
            <a:avLst/>
          </a:prstGeom>
          <a:noFill/>
          <a:ln w="0">
            <a:noFill/>
          </a:ln>
        </p:spPr>
        <p:txBody>
          <a:bodyPr lIns="114480" tIns="114480" rIns="114480" bIns="11448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3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1DD9967-0372-439E-B7FF-CE77DDC04E78}" type="slidenum">
              <a:rPr lang="pt-BR" sz="13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56040" y="3161520"/>
            <a:ext cx="9727920" cy="123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9673200" y="6854040"/>
            <a:ext cx="626040" cy="578160"/>
          </a:xfrm>
          <a:prstGeom prst="rect">
            <a:avLst/>
          </a:prstGeom>
          <a:noFill/>
          <a:ln w="0">
            <a:noFill/>
          </a:ln>
        </p:spPr>
        <p:txBody>
          <a:bodyPr lIns="114480" tIns="114480" rIns="114480" bIns="11448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3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A752231-E19E-4985-9D1A-33D8CE3A0B26}" type="slidenum">
              <a:rPr lang="pt-BR" sz="13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56040" y="654120"/>
            <a:ext cx="9727920" cy="8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56040" y="1693800"/>
            <a:ext cx="9727920" cy="502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9673200" y="6854040"/>
            <a:ext cx="626040" cy="578160"/>
          </a:xfrm>
          <a:prstGeom prst="rect">
            <a:avLst/>
          </a:prstGeom>
          <a:noFill/>
          <a:ln w="0">
            <a:noFill/>
          </a:ln>
        </p:spPr>
        <p:txBody>
          <a:bodyPr lIns="114480" tIns="114480" rIns="114480" bIns="11448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3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F874C4C-D891-4321-A667-36DBB926BDF5}" type="slidenum">
              <a:rPr lang="pt-BR" sz="13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56040" y="654120"/>
            <a:ext cx="9727920" cy="8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56040" y="1693800"/>
            <a:ext cx="4566600" cy="502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517360" y="1693800"/>
            <a:ext cx="4566600" cy="5020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9673200" y="6854040"/>
            <a:ext cx="626040" cy="578160"/>
          </a:xfrm>
          <a:prstGeom prst="rect">
            <a:avLst/>
          </a:prstGeom>
          <a:noFill/>
          <a:ln w="0">
            <a:noFill/>
          </a:ln>
        </p:spPr>
        <p:txBody>
          <a:bodyPr lIns="114480" tIns="114480" rIns="114480" bIns="11448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3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21AE65B-E1FC-4A6B-B4D2-E535AFEB331C}" type="slidenum">
              <a:rPr lang="pt-BR" sz="13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56040" y="654120"/>
            <a:ext cx="9727920" cy="84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sldNum" idx="7"/>
          </p:nvPr>
        </p:nvSpPr>
        <p:spPr>
          <a:xfrm>
            <a:off x="9673200" y="6854040"/>
            <a:ext cx="626040" cy="578160"/>
          </a:xfrm>
          <a:prstGeom prst="rect">
            <a:avLst/>
          </a:prstGeom>
          <a:noFill/>
          <a:ln w="0">
            <a:noFill/>
          </a:ln>
        </p:spPr>
        <p:txBody>
          <a:bodyPr lIns="114480" tIns="114480" rIns="114480" bIns="11448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3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D50D04D-10B2-4BC5-A9E4-A290BF9FEB1A}" type="slidenum">
              <a:rPr lang="pt-BR" sz="13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56040" y="816480"/>
            <a:ext cx="3205800" cy="111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56040" y="2042280"/>
            <a:ext cx="3205800" cy="467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698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sldNum" idx="8"/>
          </p:nvPr>
        </p:nvSpPr>
        <p:spPr>
          <a:xfrm>
            <a:off x="9673200" y="6854040"/>
            <a:ext cx="626040" cy="578160"/>
          </a:xfrm>
          <a:prstGeom prst="rect">
            <a:avLst/>
          </a:prstGeom>
          <a:noFill/>
          <a:ln w="0">
            <a:noFill/>
          </a:ln>
        </p:spPr>
        <p:txBody>
          <a:bodyPr lIns="114480" tIns="114480" rIns="114480" bIns="11448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3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D6496F7-0859-49F7-A98E-DBE37502BFEF}" type="slidenum">
              <a:rPr lang="pt-BR" sz="13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59800" y="661680"/>
            <a:ext cx="7269840" cy="60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sldNum" idx="9"/>
          </p:nvPr>
        </p:nvSpPr>
        <p:spPr>
          <a:xfrm>
            <a:off x="9673200" y="6854040"/>
            <a:ext cx="626040" cy="578160"/>
          </a:xfrm>
          <a:prstGeom prst="rect">
            <a:avLst/>
          </a:prstGeom>
          <a:noFill/>
          <a:ln w="0">
            <a:noFill/>
          </a:ln>
        </p:spPr>
        <p:txBody>
          <a:bodyPr lIns="114480" tIns="114480" rIns="114480" bIns="11448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3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3A59541-5F5F-40FC-B37F-95500BDF0B31}" type="slidenum">
              <a:rPr lang="pt-BR" sz="13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10"/>
          <p:cNvSpPr/>
          <p:nvPr/>
        </p:nvSpPr>
        <p:spPr>
          <a:xfrm>
            <a:off x="5220000" y="-360"/>
            <a:ext cx="5219640" cy="7559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4480" tIns="114480" rIns="114480" bIns="114480" anchor="ctr">
            <a:no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03120" y="1812600"/>
            <a:ext cx="4618080" cy="217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639760" y="1064160"/>
            <a:ext cx="4380480" cy="543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sldNum" idx="10"/>
          </p:nvPr>
        </p:nvSpPr>
        <p:spPr>
          <a:xfrm>
            <a:off x="9673200" y="6854040"/>
            <a:ext cx="626040" cy="578160"/>
          </a:xfrm>
          <a:prstGeom prst="rect">
            <a:avLst/>
          </a:prstGeom>
          <a:noFill/>
          <a:ln w="0">
            <a:noFill/>
          </a:ln>
        </p:spPr>
        <p:txBody>
          <a:bodyPr lIns="114480" tIns="114480" rIns="114480" bIns="11448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3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CAED041-CA8F-4B96-B2BF-AB82195B9266}" type="slidenum">
              <a:rPr lang="pt-BR" sz="13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356040" y="6218280"/>
            <a:ext cx="6848640" cy="88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713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sldNum" idx="11"/>
          </p:nvPr>
        </p:nvSpPr>
        <p:spPr>
          <a:xfrm>
            <a:off x="9673200" y="6854040"/>
            <a:ext cx="626040" cy="578160"/>
          </a:xfrm>
          <a:prstGeom prst="rect">
            <a:avLst/>
          </a:prstGeom>
          <a:noFill/>
          <a:ln w="0">
            <a:noFill/>
          </a:ln>
        </p:spPr>
        <p:txBody>
          <a:bodyPr lIns="114480" tIns="114480" rIns="114480" bIns="11448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3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0577941-1017-4F29-85A2-CD527EA7BD73}" type="slidenum">
              <a:rPr lang="pt-BR" sz="1300" b="0" strike="noStrike" spc="-1">
                <a:solidFill>
                  <a:schemeClr val="dk2"/>
                </a:solidFill>
                <a:latin typeface="Arial"/>
                <a:ea typeface="Arial"/>
              </a:rPr>
              <a:t>‹nº›</a:t>
            </a:fld>
            <a:endParaRPr lang="pt-BR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isuam.edu.br/noticias/stricto/observatorio-disseminado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ortal.sbsociologia.com.br/portal/index.php?option=com_docman&amp;task=doc_details&amp;gid=3135&amp;tmpl=component&amp;Itemid=170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AE7DF9-CB72-35B8-0D80-AE3D4ABCF2C2}"/>
              </a:ext>
            </a:extLst>
          </p:cNvPr>
          <p:cNvSpPr txBox="1"/>
          <p:nvPr/>
        </p:nvSpPr>
        <p:spPr>
          <a:xfrm>
            <a:off x="1" y="2806443"/>
            <a:ext cx="10439400" cy="2554545"/>
          </a:xfrm>
          <a:prstGeom prst="rect">
            <a:avLst/>
          </a:prstGeom>
          <a:noFill/>
        </p:spPr>
        <p:txBody>
          <a:bodyPr wrap="square" lIns="1080000" rIns="1080000" rtlCol="0">
            <a:spAutoFit/>
          </a:bodyPr>
          <a:lstStyle/>
          <a:p>
            <a:pPr marL="0" lvl="1" algn="ctr" defTabSz="457200">
              <a:lnSpc>
                <a:spcPct val="150000"/>
              </a:lnSpc>
            </a:pPr>
            <a:r>
              <a:rPr lang="pt-BR" sz="2000" b="1" strike="noStrike" spc="-1" dirty="0">
                <a:solidFill>
                  <a:srgbClr val="1E1E23"/>
                </a:solidFill>
                <a:latin typeface="Times New Roman" panose="02020603050405020304" pitchFamily="18" charset="0"/>
                <a:ea typeface="Ubuntu"/>
                <a:cs typeface="Times New Roman" panose="02020603050405020304" pitchFamily="18" charset="0"/>
              </a:rPr>
              <a:t>DESENVOLVIMENTO DE ALGORITMO PARA AGREGAÇÃO DE DADOS DA PLATAFORMA SUCIPIRA PARA O OBSERVATÓRIO DL</a:t>
            </a:r>
          </a:p>
          <a:p>
            <a:pPr marL="0" lvl="1" algn="ctr" defTabSz="457200"/>
            <a:endParaRPr lang="pt-BR" sz="2000" b="1" spc="-1" dirty="0">
              <a:solidFill>
                <a:srgbClr val="1E1E23"/>
              </a:solidFill>
              <a:latin typeface="Times New Roman" panose="02020603050405020304" pitchFamily="18" charset="0"/>
              <a:ea typeface="Ubuntu"/>
              <a:cs typeface="Times New Roman" panose="02020603050405020304" pitchFamily="18" charset="0"/>
            </a:endParaRPr>
          </a:p>
          <a:p>
            <a:pPr marL="0" lvl="1" algn="ctr" defTabSz="457200"/>
            <a:r>
              <a:rPr lang="pt-BR" sz="2000" b="0" strike="noStrike" spc="-1" dirty="0" err="1">
                <a:solidFill>
                  <a:srgbClr val="1E1E23"/>
                </a:solidFill>
                <a:latin typeface="Times New Roman" panose="02020603050405020304" pitchFamily="18" charset="0"/>
                <a:ea typeface="Ubuntu"/>
                <a:cs typeface="Times New Roman" panose="02020603050405020304" pitchFamily="18" charset="0"/>
              </a:rPr>
              <a:t>Luis</a:t>
            </a:r>
            <a:r>
              <a:rPr lang="pt-BR" sz="2000" b="0" strike="noStrike" spc="-1" dirty="0">
                <a:solidFill>
                  <a:srgbClr val="1E1E23"/>
                </a:solidFill>
                <a:latin typeface="Times New Roman" panose="02020603050405020304" pitchFamily="18" charset="0"/>
                <a:ea typeface="Ubuntu"/>
                <a:cs typeface="Times New Roman" panose="02020603050405020304" pitchFamily="18" charset="0"/>
              </a:rPr>
              <a:t> Felipe Macedo dos Santos, Arthur de Sá Ferreira</a:t>
            </a:r>
            <a:endParaRPr lang="pt-BR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ctr" defTabSz="457200"/>
            <a:endParaRPr lang="pt-BR" sz="2000" b="0" strike="noStrike" spc="-1" dirty="0">
              <a:solidFill>
                <a:srgbClr val="1E1E23"/>
              </a:solidFill>
              <a:latin typeface="Times New Roman" panose="02020603050405020304" pitchFamily="18" charset="0"/>
              <a:ea typeface="Ubuntu"/>
              <a:cs typeface="Times New Roman" panose="02020603050405020304" pitchFamily="18" charset="0"/>
            </a:endParaRPr>
          </a:p>
          <a:p>
            <a:pPr marL="0" lvl="1" algn="ctr" defTabSz="457200"/>
            <a:r>
              <a:rPr lang="pt-BR" sz="2000" b="0" strike="noStrike" spc="-1" baseline="33000" dirty="0">
                <a:solidFill>
                  <a:srgbClr val="1E1E23"/>
                </a:solidFill>
                <a:latin typeface="Times New Roman" panose="02020603050405020304" pitchFamily="18" charset="0"/>
                <a:ea typeface="Ubuntu"/>
                <a:cs typeface="Times New Roman" panose="02020603050405020304" pitchFamily="18" charset="0"/>
              </a:rPr>
              <a:t>1</a:t>
            </a:r>
            <a:r>
              <a:rPr lang="pt-BR" sz="2000" b="0" strike="noStrike" spc="-1" dirty="0">
                <a:solidFill>
                  <a:srgbClr val="1E1E23"/>
                </a:solidFill>
                <a:latin typeface="Times New Roman" panose="02020603050405020304" pitchFamily="18" charset="0"/>
                <a:ea typeface="Ubuntu"/>
                <a:cs typeface="Times New Roman" panose="02020603050405020304" pitchFamily="18" charset="0"/>
              </a:rPr>
              <a:t>Graduação em Análise de Sistemas; </a:t>
            </a:r>
            <a:r>
              <a:rPr lang="pt-BR" sz="2000" b="0" strike="noStrike" spc="-1" baseline="33000" dirty="0">
                <a:solidFill>
                  <a:srgbClr val="1E1E23"/>
                </a:solidFill>
                <a:latin typeface="Times New Roman" panose="02020603050405020304" pitchFamily="18" charset="0"/>
                <a:ea typeface="Ubuntu"/>
                <a:cs typeface="Times New Roman" panose="02020603050405020304" pitchFamily="18" charset="0"/>
              </a:rPr>
              <a:t>2</a:t>
            </a:r>
            <a:r>
              <a:rPr lang="pt-BR" sz="2000" b="0" strike="noStrike" spc="-1" dirty="0">
                <a:solidFill>
                  <a:srgbClr val="1E1E23"/>
                </a:solidFill>
                <a:latin typeface="Times New Roman" panose="02020603050405020304" pitchFamily="18" charset="0"/>
                <a:ea typeface="Ubuntu"/>
                <a:cs typeface="Times New Roman" panose="02020603050405020304" pitchFamily="18" charset="0"/>
              </a:rPr>
              <a:t>Programa de Pós-graduação em Desenvolvimento Local, UNISUAM</a:t>
            </a:r>
            <a:endParaRPr lang="pt-BR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C6FFC-83F4-1F49-2645-D28D3DC93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>
            <a:extLst>
              <a:ext uri="{FF2B5EF4-FFF2-40B4-BE49-F238E27FC236}">
                <a16:creationId xmlns:a16="http://schemas.microsoft.com/office/drawing/2014/main" id="{571571C1-12A7-9131-8CF2-866EDEA5F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00" y="3085365"/>
            <a:ext cx="10440000" cy="2531256"/>
          </a:xfrm>
          <a:prstGeom prst="rect">
            <a:avLst/>
          </a:prstGeom>
          <a:noFill/>
          <a:ln w="0">
            <a:noFill/>
          </a:ln>
        </p:spPr>
        <p:txBody>
          <a:bodyPr lIns="1080000" tIns="114480" rIns="1080000" bIns="114480" anchor="b">
            <a:no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		Vivemos em uma época de extrema desigualdade social, e que enfrenta diversos problemas ambientais, que assolam principalmente as classes baixas. Estes problemas são extremamente relevantes no meio intelectual, político e nos movimentos sociais. E é importante encontrar formas de impactar positivamente esta questões. Uma das maneiras de alcançar esse objetivo é através dos programas de pós-graduação, que contribuem para a produção científica no país que se revertem em impactos na sociedade. </a:t>
            </a:r>
            <a:b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	</a:t>
            </a:r>
            <a:endParaRPr lang="pt-BR" sz="1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46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-600" y="3233955"/>
            <a:ext cx="10440000" cy="2531256"/>
          </a:xfrm>
          <a:prstGeom prst="rect">
            <a:avLst/>
          </a:prstGeom>
          <a:noFill/>
          <a:ln w="0">
            <a:noFill/>
          </a:ln>
        </p:spPr>
        <p:txBody>
          <a:bodyPr lIns="1080000" tIns="114480" rIns="1080000" bIns="114480" anchor="b">
            <a:noAutofit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pt-BR" sz="1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Ubuntu"/>
                <a:cs typeface="Times New Roman" panose="02020603050405020304" pitchFamily="18" charset="0"/>
              </a:rPr>
              <a:t>A Pós-Graduação Stricto Sensu é cada vez mais importante para o crescimento e desenvolvimento da ciência no país. É por meio dos Programas de Pós-graduação que a maioria da produção científica é conduzida e se reverte em impacto para a sociedade. Anualmente, cada Programa envia à CAPES um relatório via plataforma Sucupira para consolidação durante um ciclo de avaliação quadrienal. Entretanto, consolidar as informações do Programa para envio ainda é um desafio; mostrar o impacto – formação de pessoal, produção científica e inovação – alcançado no período é um desafio maior ainda.</a:t>
            </a:r>
            <a:endParaRPr lang="pt-BR" sz="1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-600" y="2624721"/>
            <a:ext cx="10440000" cy="2559400"/>
          </a:xfrm>
          <a:prstGeom prst="rect">
            <a:avLst/>
          </a:prstGeom>
          <a:noFill/>
          <a:ln w="0">
            <a:noFill/>
          </a:ln>
        </p:spPr>
        <p:txBody>
          <a:bodyPr lIns="1080000" tIns="114480" rIns="1080000" bIns="114480" anchor="b">
            <a:noAutofit/>
          </a:bodyPr>
          <a:lstStyle/>
          <a:p>
            <a:pPr indent="0" algn="just" defTabSz="914400">
              <a:lnSpc>
                <a:spcPct val="150000"/>
              </a:lnSpc>
              <a:buNone/>
            </a:pPr>
            <a:r>
              <a:rPr lang="pt-BR" sz="1800" b="1" strike="noStrike" spc="-1" dirty="0">
                <a:solidFill>
                  <a:schemeClr val="dk1"/>
                </a:solidFill>
                <a:latin typeface="Times New Roman"/>
                <a:ea typeface="Arial Narrow"/>
              </a:rPr>
              <a:t>Introdução: </a:t>
            </a:r>
            <a:r>
              <a:rPr lang="pt-BR" sz="1800" b="0" strike="noStrike" spc="-1" dirty="0">
                <a:solidFill>
                  <a:schemeClr val="dk1"/>
                </a:solidFill>
                <a:latin typeface="Times New Roman"/>
                <a:ea typeface="Arial"/>
              </a:rPr>
              <a:t>O uso de tecnologias de informação para a organização de dados e suporte à tomada de decisões no contexto de desenvolvimento sustentável é cada vez mais importante. Este projeto tem como objetivo desenvolver um algoritmo em R para a agregação e consolidação de dados da Plataforma Sucupira, referentes à formação de pessoal e à produção científica do Programa de Pós-Graduação em Desenvolvimento Local da UNISUAM.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7240D2-26A5-2E3C-21F2-3B562DCFD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8C5E5293-165A-DD43-9F80-F75F9797C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93301"/>
            <a:ext cx="10440000" cy="2559400"/>
          </a:xfrm>
          <a:prstGeom prst="rect">
            <a:avLst/>
          </a:prstGeom>
          <a:noFill/>
          <a:ln w="0">
            <a:noFill/>
          </a:ln>
        </p:spPr>
        <p:txBody>
          <a:bodyPr lIns="1080000" tIns="114480" rIns="1080000" bIns="114480" anchor="b">
            <a:noAutofit/>
          </a:bodyPr>
          <a:lstStyle/>
          <a:p>
            <a:pPr indent="0" algn="just" defTabSz="914400">
              <a:lnSpc>
                <a:spcPct val="150000"/>
              </a:lnSpc>
              <a:buNone/>
            </a:pPr>
            <a:r>
              <a:rPr lang="pt-BR" sz="1800" b="1" strike="noStrike" spc="-1" dirty="0">
                <a:solidFill>
                  <a:schemeClr val="dk1"/>
                </a:solidFill>
                <a:latin typeface="Times New Roman"/>
                <a:ea typeface="Arial"/>
              </a:rPr>
              <a:t>Métodos:</a:t>
            </a:r>
            <a:r>
              <a:rPr lang="pt-BR" sz="1800" b="0" strike="noStrike" spc="-1" dirty="0">
                <a:solidFill>
                  <a:schemeClr val="dk1"/>
                </a:solidFill>
                <a:latin typeface="Times New Roman"/>
                <a:ea typeface="Arial"/>
              </a:rPr>
              <a:t> O algoritmo foi desenvolvido utilizando a linguagem R (https://www.r-project.org), O script identifica e lê automaticamente os arquivos, percorre as planilhas e consolida as informações em uma base de dados unificada. Para garantir a integridade dos dados, o algoritmo utiliza funções para agregar diferentes abas de cada arquivo e salvar os resultados em novos arquivos de forma segura, com a possibilidade de sobreposição controlada.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0219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0" y="2782529"/>
            <a:ext cx="10440000" cy="2009100"/>
          </a:xfrm>
          <a:prstGeom prst="rect">
            <a:avLst/>
          </a:prstGeom>
          <a:noFill/>
          <a:ln w="0">
            <a:noFill/>
          </a:ln>
        </p:spPr>
        <p:txBody>
          <a:bodyPr lIns="1080000" tIns="114480" rIns="1080000" bIns="114480" anchor="b">
            <a:noAutofit/>
          </a:bodyPr>
          <a:lstStyle/>
          <a:p>
            <a:pPr indent="0" algn="just" defTabSz="914400">
              <a:lnSpc>
                <a:spcPct val="150000"/>
              </a:lnSpc>
              <a:buNone/>
            </a:pPr>
            <a:r>
              <a:rPr lang="pt-BR" sz="1800" b="1" strike="noStrike" spc="-1" dirty="0">
                <a:solidFill>
                  <a:schemeClr val="dk1"/>
                </a:solidFill>
                <a:latin typeface="Times New Roman"/>
                <a:ea typeface="Arial"/>
              </a:rPr>
              <a:t>Resultados:</a:t>
            </a:r>
            <a:r>
              <a:rPr lang="pt-BR" sz="1800" b="0" strike="noStrike" spc="-1" dirty="0">
                <a:solidFill>
                  <a:schemeClr val="dk1"/>
                </a:solidFill>
                <a:latin typeface="Times New Roman"/>
                <a:ea typeface="Arial"/>
              </a:rPr>
              <a:t> O algoritmo mostrou-se eficiente ao consolidar dados de múltiplas fontes e períodos. A ferramenta também gerou relatórios automatizados, prontos para futuras análises, e foi testada com sucesso em diversas iterações, demonstrando versatilidade e precisão na agregação dos dados.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721AE6-F105-54B6-F28E-6D1C5327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5AF90E9D-4043-6F2A-FB24-41013880EE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0" t="11233" r="49934" b="32123"/>
          <a:stretch/>
        </p:blipFill>
        <p:spPr>
          <a:xfrm>
            <a:off x="0" y="0"/>
            <a:ext cx="10439400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289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AB8E51-0320-FA4A-086A-A17415773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43A948AD-7358-FF8D-12FE-F8A0E65432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0" t="11415" r="49934" b="14363"/>
          <a:stretch/>
        </p:blipFill>
        <p:spPr>
          <a:xfrm>
            <a:off x="0" y="0"/>
            <a:ext cx="10439399" cy="759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38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377FD-1A04-AE93-26DE-6D6FE330B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>
            <a:extLst>
              <a:ext uri="{FF2B5EF4-FFF2-40B4-BE49-F238E27FC236}">
                <a16:creationId xmlns:a16="http://schemas.microsoft.com/office/drawing/2014/main" id="{CA9C35E3-2E8F-3BC3-A16E-2494A05EA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82529"/>
            <a:ext cx="10440000" cy="2009100"/>
          </a:xfrm>
          <a:prstGeom prst="rect">
            <a:avLst/>
          </a:prstGeom>
          <a:noFill/>
          <a:ln w="0">
            <a:noFill/>
          </a:ln>
        </p:spPr>
        <p:txBody>
          <a:bodyPr lIns="1080000" tIns="114480" rIns="1080000" bIns="114480" anchor="b">
            <a:noAutofit/>
          </a:bodyPr>
          <a:lstStyle/>
          <a:p>
            <a:pPr indent="0" algn="just" defTabSz="914400">
              <a:lnSpc>
                <a:spcPct val="150000"/>
              </a:lnSpc>
              <a:buNone/>
            </a:pPr>
            <a:r>
              <a:rPr lang="pt-BR" sz="1800" b="1" strike="noStrike" spc="-1" dirty="0">
                <a:solidFill>
                  <a:schemeClr val="dk1"/>
                </a:solidFill>
                <a:latin typeface="Times New Roman"/>
              </a:rPr>
              <a:t>Conclusão:</a:t>
            </a:r>
            <a:r>
              <a:rPr lang="pt-BR" sz="1800" b="0" strike="noStrike" spc="-1" dirty="0">
                <a:solidFill>
                  <a:schemeClr val="dk1"/>
                </a:solidFill>
                <a:latin typeface="Times New Roman"/>
              </a:rPr>
              <a:t> O desenvolvimento do algoritmo cumpriu com êxito o objetivo de automatizar a agregação e organização de dados da Plataforma Sucupira. Ele servirá como base para a implementação do Observatório DL, facilitando a análise e a divulgação de informações sobre a formação acadêmica e a produção científica do programa.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623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0" y="3162417"/>
            <a:ext cx="10439400" cy="1234840"/>
          </a:xfrm>
          <a:prstGeom prst="rect">
            <a:avLst/>
          </a:prstGeom>
          <a:noFill/>
          <a:ln w="0">
            <a:noFill/>
          </a:ln>
        </p:spPr>
        <p:txBody>
          <a:bodyPr lIns="1080000" tIns="114480" rIns="1080000" bIns="114480" anchor="ctr">
            <a:noAutofit/>
          </a:bodyPr>
          <a:lstStyle/>
          <a:p>
            <a:pPr indent="-1081088" algn="just">
              <a:lnSpc>
                <a:spcPct val="150000"/>
              </a:lnSpc>
              <a:spcBef>
                <a:spcPts val="0"/>
              </a:spcBef>
              <a:buNone/>
            </a:pPr>
            <a:br>
              <a:rPr sz="1800" dirty="0"/>
            </a:br>
            <a:r>
              <a:rPr lang="pt-BR" sz="1800" b="0" strike="noStrike" spc="-1" dirty="0">
                <a:solidFill>
                  <a:srgbClr val="000000"/>
                </a:solidFill>
                <a:latin typeface="Times New Roman"/>
              </a:rPr>
              <a:t>	Este trabalho foi desenvolvido visando auxiliar no desenvolvimento de uma ferramenta de grande significância no acompanhamento da produção científica do programa de pós-graduação da UNISUAM, o Observatório DL ( ferramenta desenvolvida pelo Professor Doutor Arthur de Sá Ferreira) no qual tive a grande honra de poder contribuir com este trabalho e ficarei ainda mais honrado em contribuições futuras.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0" y="2802193"/>
            <a:ext cx="10440000" cy="1986115"/>
          </a:xfrm>
          <a:prstGeom prst="rect">
            <a:avLst/>
          </a:prstGeom>
          <a:noFill/>
          <a:ln w="0">
            <a:noFill/>
          </a:ln>
        </p:spPr>
        <p:txBody>
          <a:bodyPr lIns="1080000" tIns="114480" rIns="1080000" bIns="114480" anchor="ctr">
            <a:no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pt-BR" sz="1800" b="1" strike="noStrike" spc="-1" dirty="0">
                <a:solidFill>
                  <a:srgbClr val="000000"/>
                </a:solidFill>
                <a:latin typeface="Times New Roman"/>
              </a:rPr>
              <a:t>Referências</a:t>
            </a:r>
            <a:br>
              <a:rPr lang="pt-BR" sz="1800" dirty="0"/>
            </a:br>
            <a:r>
              <a:rPr lang="pt-BR" sz="1800" dirty="0"/>
              <a:t>(</a:t>
            </a:r>
            <a:r>
              <a:rPr lang="pt-BR" sz="1800" b="0" strike="noStrike" spc="-1" dirty="0">
                <a:solidFill>
                  <a:srgbClr val="000000"/>
                </a:solidFill>
                <a:latin typeface="Times New Roman"/>
              </a:rPr>
              <a:t>MOURA, F. Observatório desenvolvido na UNISUAM disseminado entre Programas de Pós-Graduação no país, 2024. Disponível em: </a:t>
            </a:r>
            <a:r>
              <a:rPr lang="pt-BR" sz="1800" b="0" strike="noStrike" spc="-1" dirty="0">
                <a:solidFill>
                  <a:srgbClr val="000000"/>
                </a:solidFill>
                <a:latin typeface="Times New Roman"/>
                <a:hlinkClick r:id="rId3"/>
              </a:rPr>
              <a:t>https://www.unisuam.edu.br/noticias/stricto/</a:t>
            </a:r>
            <a:r>
              <a:rPr lang="pt-BR" sz="1800" b="0" strike="noStrike" spc="-1" dirty="0" err="1">
                <a:solidFill>
                  <a:srgbClr val="000000"/>
                </a:solidFill>
                <a:latin typeface="Times New Roman"/>
                <a:hlinkClick r:id="rId3"/>
              </a:rPr>
              <a:t>observatorio</a:t>
            </a:r>
            <a:r>
              <a:rPr lang="pt-BR" sz="1800" b="0" strike="noStrike" spc="-1" dirty="0">
                <a:solidFill>
                  <a:srgbClr val="000000"/>
                </a:solidFill>
                <a:latin typeface="Times New Roman"/>
                <a:hlinkClick r:id="rId3"/>
              </a:rPr>
              <a:t>-disseminados</a:t>
            </a:r>
            <a:r>
              <a:rPr lang="pt-BR" sz="1800" b="0" strike="noStrike" spc="-1" dirty="0">
                <a:solidFill>
                  <a:srgbClr val="000000"/>
                </a:solidFill>
                <a:latin typeface="Times New Roman"/>
              </a:rPr>
              <a:t>. Acesso em: 01 nov. 2024.)</a:t>
            </a:r>
            <a:br>
              <a:rPr lang="pt-BR" sz="1800" b="0" strike="noStrike" spc="-1" dirty="0">
                <a:solidFill>
                  <a:srgbClr val="000000"/>
                </a:solidFill>
                <a:latin typeface="Times New Roman"/>
              </a:rPr>
            </a:br>
            <a:r>
              <a:rPr lang="pt-BR" sz="1800" b="0" strike="noStrike" spc="-1" dirty="0">
                <a:solidFill>
                  <a:srgbClr val="000000"/>
                </a:solidFill>
                <a:latin typeface="Times New Roman"/>
              </a:rPr>
              <a:t>(CAROLINA, A.G. Detalhes de Desigualdade social e meio ambiente: dois aspectos do mesmo processo de desenvolvimento, 2009. Dispon</a:t>
            </a:r>
            <a:r>
              <a:rPr lang="pt-BR" sz="1800" spc="-1" dirty="0">
                <a:solidFill>
                  <a:srgbClr val="000000"/>
                </a:solidFill>
                <a:latin typeface="Times New Roman"/>
              </a:rPr>
              <a:t>ível em: </a:t>
            </a:r>
            <a:r>
              <a:rPr lang="pt-BR" sz="1800" spc="-1" dirty="0">
                <a:solidFill>
                  <a:srgbClr val="000000"/>
                </a:solidFill>
                <a:latin typeface="Times New Roman"/>
                <a:hlinkClick r:id="rId4"/>
              </a:rPr>
              <a:t>https://portal.sbsociologia.com.br/portal/index.php?option=com_docman&amp;task=doc_details&amp;gid=3135&amp;tmpl=component&amp;Itemid=170</a:t>
            </a:r>
            <a:r>
              <a:rPr lang="pt-BR" sz="1800" spc="-1" dirty="0">
                <a:solidFill>
                  <a:srgbClr val="000000"/>
                </a:solidFill>
                <a:latin typeface="Times New Roman"/>
              </a:rPr>
              <a:t>.  Acesso em: 01 nov. 2024.)</a:t>
            </a:r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B6D0E6-3663-8366-26CD-F219922B6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A2FEC7A-9032-BAC4-1C72-34B5207BA5AD}"/>
              </a:ext>
            </a:extLst>
          </p:cNvPr>
          <p:cNvSpPr txBox="1"/>
          <p:nvPr/>
        </p:nvSpPr>
        <p:spPr>
          <a:xfrm>
            <a:off x="4284187" y="3779837"/>
            <a:ext cx="1871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378988035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968</TotalTime>
  <Words>657</Words>
  <Application>Microsoft Macintosh PowerPoint</Application>
  <PresentationFormat>Personalizar</PresentationFormat>
  <Paragraphs>14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11</vt:i4>
      </vt:variant>
      <vt:variant>
        <vt:lpstr>Títulos de slides</vt:lpstr>
      </vt:variant>
      <vt:variant>
        <vt:i4>12</vt:i4>
      </vt:variant>
    </vt:vector>
  </HeadingPairs>
  <TitlesOfParts>
    <vt:vector size="27" baseType="lpstr">
      <vt:lpstr>Arial</vt:lpstr>
      <vt:lpstr>Symbol</vt:lpstr>
      <vt:lpstr>Times New Roman</vt:lpstr>
      <vt:lpstr>Wingdings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Simple Light</vt:lpstr>
      <vt:lpstr>Apresentação do PowerPoint</vt:lpstr>
      <vt:lpstr>  Vivemos em uma época de extrema desigualdade social, e que enfrenta diversos problemas ambientais, que assolam principalmente as classes baixas. Estes problemas são extremamente relevantes no meio intelectual, político e nos movimentos sociais. E é importante encontrar formas de impactar positivamente esta questões. Uma das maneiras de alcançar esse objetivo é através dos programas de pós-graduação, que contribuem para a produção científica no país que se revertem em impactos na sociedade.   </vt:lpstr>
      <vt:lpstr>A Pós-Graduação Stricto Sensu é cada vez mais importante para o crescimento e desenvolvimento da ciência no país. É por meio dos Programas de Pós-graduação que a maioria da produção científica é conduzida e se reverte em impacto para a sociedade. Anualmente, cada Programa envia à CAPES um relatório via plataforma Sucupira para consolidação durante um ciclo de avaliação quadrienal. Entretanto, consolidar as informações do Programa para envio ainda é um desafio; mostrar o impacto – formação de pessoal, produção científica e inovação – alcançado no período é um desafio maior ainda.</vt:lpstr>
      <vt:lpstr>Introdução: O uso de tecnologias de informação para a organização de dados e suporte à tomada de decisões no contexto de desenvolvimento sustentável é cada vez mais importante. Este projeto tem como objetivo desenvolver um algoritmo em R para a agregação e consolidação de dados da Plataforma Sucupira, referentes à formação de pessoal e à produção científica do Programa de Pós-Graduação em Desenvolvimento Local da UNISUAM.</vt:lpstr>
      <vt:lpstr>Métodos: O algoritmo foi desenvolvido utilizando a linguagem R (https://www.r-project.org), O script identifica e lê automaticamente os arquivos, percorre as planilhas e consolida as informações em uma base de dados unificada. Para garantir a integridade dos dados, o algoritmo utiliza funções para agregar diferentes abas de cada arquivo e salvar os resultados em novos arquivos de forma segura, com a possibilidade de sobreposição controlada.</vt:lpstr>
      <vt:lpstr>Resultados: O algoritmo mostrou-se eficiente ao consolidar dados de múltiplas fontes e períodos. A ferramenta também gerou relatórios automatizados, prontos para futuras análises, e foi testada com sucesso em diversas iterações, demonstrando versatilidade e precisão na agregação dos dados.</vt:lpstr>
      <vt:lpstr>Apresentação do PowerPoint</vt:lpstr>
      <vt:lpstr>Apresentação do PowerPoint</vt:lpstr>
      <vt:lpstr>Conclusão: O desenvolvimento do algoritmo cumpriu com êxito o objetivo de automatizar a agregação e organização de dados da Plataforma Sucupira. Ele servirá como base para a implementação do Observatório DL, facilitando a análise e a divulgação de informações sobre a formação acadêmica e a produção científica do programa.</vt:lpstr>
      <vt:lpstr>  Este trabalho foi desenvolvido visando auxiliar no desenvolvimento de uma ferramenta de grande significância no acompanhamento da produção científica do programa de pós-graduação da UNISUAM, o Observatório DL ( ferramenta desenvolvida pelo Professor Doutor Arthur de Sá Ferreira) no qual tive a grande honra de poder contribuir com este trabalho e ficarei ainda mais honrado em contribuições futuras.</vt:lpstr>
      <vt:lpstr>Referências (MOURA, F. Observatório desenvolvido na UNISUAM disseminado entre Programas de Pós-Graduação no país, 2024. Disponível em: https://www.unisuam.edu.br/noticias/stricto/observatorio-disseminados. Acesso em: 01 nov. 2024.) (CAROLINA, A.G. Detalhes de Desigualdade social e meio ambiente: dois aspectos do mesmo processo de desenvolvimento, 2009. Disponível em: https://portal.sbsociologia.com.br/portal/index.php?option=com_docman&amp;task=doc_details&amp;gid=3135&amp;tmpl=component&amp;Itemid=170.  Acesso em: 01 nov. 2024.)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Arthur de Sá Ferreira</cp:lastModifiedBy>
  <cp:revision>7</cp:revision>
  <dcterms:modified xsi:type="dcterms:W3CDTF">2024-11-04T11:42:40Z</dcterms:modified>
  <dc:language>pt-BR</dc:language>
</cp:coreProperties>
</file>